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A0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7DD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Finance</c:v>
                  </c:pt>
                  <c:pt idx="1">
                    <c:v>Sales</c:v>
                  </c:pt>
                  <c:pt idx="2">
                    <c:v>HR</c:v>
                  </c:pt>
                  <c:pt idx="3">
                    <c:v>IT</c:v>
                  </c:pt>
                  <c:pt idx="4">
                    <c:v>Marketing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218</c:v>
                </c:pt>
                <c:pt idx="1">
                  <c:v>202</c:v>
                </c:pt>
                <c:pt idx="2">
                  <c:v>200</c:v>
                </c:pt>
                <c:pt idx="3">
                  <c:v>193</c:v>
                </c:pt>
                <c:pt idx="4">
                  <c:v>187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Gender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bubble3D val="0"/>
            <c:spPr>
              <a:solidFill>
                <a:srgbClr val="F0A500"/>
              </a:solidFill>
              <a:effectLst/>
            </c:spPr>
          </c:dPt>
          <c:dPt>
            <c:idx val="2"/>
            <c:bubble3D val="0"/>
            <c:spPr>
              <a:solidFill>
                <a:srgbClr val="1B2A4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Male</c:v>
                </c:pt>
                <c:pt idx="1">
                  <c:v>Other</c:v>
                </c:pt>
                <c:pt idx="2">
                  <c:v>Female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355</c:v>
                </c:pt>
                <c:pt idx="1">
                  <c:v>332</c:v>
                </c:pt>
                <c:pt idx="2">
                  <c:v>313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Employees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AA7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9B6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Level 1</c:v>
                  </c:pt>
                  <c:pt idx="1">
                    <c:v>Level 2</c:v>
                  </c:pt>
                  <c:pt idx="2">
                    <c:v>Level 3</c:v>
                  </c:pt>
                  <c:pt idx="3">
                    <c:v>Level 4</c:v>
                  </c:pt>
                  <c:pt idx="4">
                    <c:v>Level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218</c:v>
                </c:pt>
                <c:pt idx="1">
                  <c:v>214</c:v>
                </c:pt>
                <c:pt idx="2">
                  <c:v>182</c:v>
                </c:pt>
                <c:pt idx="3">
                  <c:v>206</c:v>
                </c:pt>
                <c:pt idx="4">
                  <c:v>180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bubble3D val="0"/>
            <c:spPr>
              <a:solidFill>
                <a:srgbClr val="E6394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Retained (60.8%)</c:v>
                </c:pt>
                <c:pt idx="1">
                  <c:v>Left (39.2%)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608</c:v>
                </c:pt>
                <c:pt idx="1">
                  <c:v>392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AAA7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D9B6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Level 1 (lowest)</c:v>
                  </c:pt>
                  <c:pt idx="1">
                    <c:v>Level 2</c:v>
                  </c:pt>
                  <c:pt idx="2">
                    <c:v>Level 3</c:v>
                  </c:pt>
                  <c:pt idx="3">
                    <c:v>Level 4</c:v>
                  </c:pt>
                  <c:pt idx="4">
                    <c:v>Level 5 (highest)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58.7</c:v>
                </c:pt>
                <c:pt idx="1">
                  <c:v>53.3</c:v>
                </c:pt>
                <c:pt idx="2">
                  <c:v>27.5</c:v>
                </c:pt>
                <c:pt idx="3">
                  <c:v>26.2</c:v>
                </c:pt>
                <c:pt idx="4">
                  <c:v>25.6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2D457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Salary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A09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D7DD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Sales</c:v>
                  </c:pt>
                  <c:pt idx="1">
                    <c:v>HR</c:v>
                  </c:pt>
                  <c:pt idx="2">
                    <c:v>Marketing</c:v>
                  </c:pt>
                  <c:pt idx="3">
                    <c:v>Finance</c:v>
                  </c:pt>
                  <c:pt idx="4">
                    <c:v>IT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60987</c:v>
                </c:pt>
                <c:pt idx="1">
                  <c:v>60236</c:v>
                </c:pt>
                <c:pt idx="2">
                  <c:v>60107</c:v>
                </c:pt>
                <c:pt idx="3">
                  <c:v>59984</c:v>
                </c:pt>
                <c:pt idx="4">
                  <c:v>59713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000"/>
          <c:min val="5500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Satisfaction</c:v>
                </c:pt>
              </c:strCache>
            </c:strRef>
          </c:tx>
          <c:spPr>
            <a:solidFill>
              <a:srgbClr val="2D9B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9B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AA7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7B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Marketing</c:v>
                  </c:pt>
                  <c:pt idx="1">
                    <c:v>HR</c:v>
                  </c:pt>
                  <c:pt idx="2">
                    <c:v>Sales</c:v>
                  </c:pt>
                  <c:pt idx="3">
                    <c:v>IT</c:v>
                  </c:pt>
                  <c:pt idx="4">
                    <c:v>Finance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3.01</c:v>
                </c:pt>
                <c:pt idx="1">
                  <c:v>2.99</c:v>
                </c:pt>
                <c:pt idx="2">
                  <c:v>2.98</c:v>
                </c:pt>
                <c:pt idx="3">
                  <c:v>2.91</c:v>
                </c:pt>
                <c:pt idx="4">
                  <c:v>2.72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Attrition Rate (%)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7B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B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Marketing</c:v>
                  </c:pt>
                  <c:pt idx="1">
                    <c:v>Finance</c:v>
                  </c:pt>
                  <c:pt idx="2">
                    <c:v>IT</c:v>
                  </c:pt>
                  <c:pt idx="3">
                    <c:v>Sales</c:v>
                  </c:pt>
                  <c:pt idx="4">
                    <c:v>HR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42.8</c:v>
                </c:pt>
                <c:pt idx="1">
                  <c:v>40.4</c:v>
                </c:pt>
                <c:pt idx="2">
                  <c:v>40.4</c:v>
                </c:pt>
                <c:pt idx="3">
                  <c:v>36.6</c:v>
                </c:pt>
                <c:pt idx="4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Hires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A097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186</c:v>
                </c:pt>
                <c:pt idx="1">
                  <c:v>385</c:v>
                </c:pt>
                <c:pt idx="2">
                  <c:v>429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Enrolled (%)</c:v>
                </c:pt>
              </c:strCache>
            </c:strRef>
          </c:tx>
          <c:spPr>
            <a:solidFill>
              <a:srgbClr val="2D9B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D9B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AA7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0A50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7B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Marketing</c:v>
                  </c:pt>
                  <c:pt idx="1">
                    <c:v>Sales</c:v>
                  </c:pt>
                  <c:pt idx="2">
                    <c:v>Finance</c:v>
                  </c:pt>
                  <c:pt idx="3">
                    <c:v>HR</c:v>
                  </c:pt>
                  <c:pt idx="4">
                    <c:v>IT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52.9</c:v>
                </c:pt>
                <c:pt idx="1">
                  <c:v>46</c:v>
                </c:pt>
                <c:pt idx="2">
                  <c:v>40.4</c:v>
                </c:pt>
                <c:pt idx="3">
                  <c:v>40</c:v>
                </c:pt>
                <c:pt idx="4">
                  <c:v>35.8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D7377">
              <a:alpha val="18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2011680"/>
            <a:ext cx="2011680" cy="2011680"/>
          </a:xfrm>
          <a:prstGeom prst="ellipse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14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Corporation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Report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2860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Satisfaction &amp; Retention Analysis — 2024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" y="3337560"/>
            <a:ext cx="1920240" cy="822960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383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1148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surveyed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3337560"/>
            <a:ext cx="1920240" cy="822960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3383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analyzed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3337560"/>
            <a:ext cx="1920240" cy="822960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383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0916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period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3337560"/>
            <a:ext cx="1920240" cy="822960"/>
          </a:xfrm>
          <a:prstGeom prst="rect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14A097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3383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58000" y="3749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 Julian Ordia  |  Dataset: HR_data.xlsx  |  Period: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1920240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91440" cy="1920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data analyst at Salt Corporation's HR department. The company surveyed 1,000 employees in 2024 to measure job satisfaction and identify opportunities to keep staff motivated and engaged.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880360"/>
            <a:ext cx="4023360" cy="1920240"/>
          </a:xfrm>
          <a:prstGeom prst="rect">
            <a:avLst/>
          </a:prstGeom>
          <a:solidFill>
            <a:srgbClr val="FEF3D0"/>
          </a:solidFill>
          <a:ln w="12700">
            <a:solidFill>
              <a:srgbClr val="F0A500">
                <a:alpha val="4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2880360"/>
            <a:ext cx="91440" cy="1920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validate the survey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patterns in satisfaction and attrition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factors driving employee turnover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 recommendations to HR leadership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822960"/>
            <a:ext cx="4114800" cy="3977640"/>
          </a:xfrm>
          <a:prstGeom prst="rect">
            <a:avLst/>
          </a:prstGeom>
          <a:solidFill>
            <a:srgbClr val="E8EEF8"/>
          </a:solidFill>
          <a:ln w="12700">
            <a:solidFill>
              <a:srgbClr val="1B2A4A">
                <a:alpha val="35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822960"/>
            <a:ext cx="91440" cy="3977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389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44768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HR_data.xlsx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181965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44768" y="181965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employees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2494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224942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fields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6791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44768" y="267919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 – 2020 (joining dates)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108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year: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44768" y="31089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5387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44768" y="35387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HR, IT, Marketing, Sales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96849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44768" y="3968496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(1–5), Attrition (Yes/No)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39826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44768" y="4398264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Ordia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columns required cleaning across 4 issue types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485632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61872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07008" y="1261872"/>
            <a:ext cx="1874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45536" y="1261872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Found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95544" y="1261872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Taken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99832" y="1261872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645920"/>
            <a:ext cx="8485632" cy="384048"/>
          </a:xfrm>
          <a:prstGeom prst="rect">
            <a:avLst/>
          </a:prstGeom>
          <a:solidFill>
            <a:srgbClr val="EAF0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645920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07008" y="1645920"/>
            <a:ext cx="1874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45536" y="1645920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values + 159 missing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95544" y="1645920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age_clean = 2024 − Birth Year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99832" y="1645920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36.1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029968"/>
            <a:ext cx="8485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02996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07008" y="2029968"/>
            <a:ext cx="1874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45536" y="2029968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numbers + NAN strings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95544" y="2029968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Numeric; nulls filled by dept avg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99832" y="2029968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$60,208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414016"/>
            <a:ext cx="8485632" cy="384048"/>
          </a:xfrm>
          <a:prstGeom prst="rect">
            <a:avLst/>
          </a:prstGeom>
          <a:solidFill>
            <a:srgbClr val="EAF0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414016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2414016"/>
            <a:ext cx="1874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145536" y="2414016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casing (hr, FINANCE)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95544" y="2414016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department_clean → Title Case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99832" y="2414016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values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798064"/>
            <a:ext cx="8485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798064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07008" y="2798064"/>
            <a:ext cx="1874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145536" y="2798064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formats (FULL-TIME)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95544" y="2798064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status_clean → Full/Part/Contract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99832" y="2798064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182112"/>
            <a:ext cx="8485632" cy="384048"/>
          </a:xfrm>
          <a:prstGeom prst="rect">
            <a:avLst/>
          </a:prstGeom>
          <a:solidFill>
            <a:srgbClr val="EAF0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182112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207008" y="3182112"/>
            <a:ext cx="1874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&amp; Promo Dates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145536" y="3182112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date formats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95544" y="3182112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joining/promotion_date_clean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799832" y="3182112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valid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3566160"/>
            <a:ext cx="848563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566160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207008" y="3566160"/>
            <a:ext cx="1874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145536" y="3566160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missing emails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95544" y="3566160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email_clean = first.last@saltcorp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799832" y="3566160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3950208"/>
            <a:ext cx="8485632" cy="384048"/>
          </a:xfrm>
          <a:prstGeom prst="rect">
            <a:avLst/>
          </a:prstGeom>
          <a:solidFill>
            <a:srgbClr val="EAF0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3950208"/>
            <a:ext cx="8229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207008" y="3950208"/>
            <a:ext cx="18745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Enrolled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145536" y="3950208"/>
            <a:ext cx="22860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Y/YES/yes/blank (210 nulls)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95544" y="3950208"/>
            <a:ext cx="224028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benefits_clean → Yes / No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799832" y="3950208"/>
            <a:ext cx="100584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Yes/No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20040" y="4480560"/>
            <a:ext cx="1572768" cy="566928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4988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320040" y="4754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cleaned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2039112" y="4480560"/>
            <a:ext cx="1572768" cy="566928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39112" y="44988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159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2039112" y="4754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derived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758184" y="4480560"/>
            <a:ext cx="1572768" cy="566928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58184" y="44988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3758184" y="4754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generated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477256" y="4480560"/>
            <a:ext cx="1572768" cy="566928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77256" y="44988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5477256" y="4754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fixed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196328" y="4480560"/>
            <a:ext cx="1572768" cy="566928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96328" y="44988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196328" y="4754880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nulls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key columns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560320" cy="1600200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91440" cy="1600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097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84632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Employees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" y="1993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surveyed in 2024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914400"/>
            <a:ext cx="2560320" cy="160020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914400"/>
            <a:ext cx="91440" cy="16002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097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19272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993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392 employees left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914400"/>
            <a:ext cx="2560320" cy="1600200"/>
          </a:xfrm>
          <a:prstGeom prst="rect">
            <a:avLst/>
          </a:prstGeom>
          <a:solidFill>
            <a:srgbClr val="FEF3D0"/>
          </a:solidFill>
          <a:ln w="12700">
            <a:solidFill>
              <a:srgbClr val="F0A50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914400"/>
            <a:ext cx="91440" cy="1600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10972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2.9/5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53912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53912" y="1993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34640"/>
            <a:ext cx="2560320" cy="1600200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834640"/>
            <a:ext cx="91440" cy="1600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$60,208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84632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Annual Salary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departments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834640"/>
            <a:ext cx="2560320" cy="1600200"/>
          </a:xfrm>
          <a:prstGeom prst="rect">
            <a:avLst/>
          </a:prstGeom>
          <a:solidFill>
            <a:srgbClr val="E8EEF8"/>
          </a:solidFill>
          <a:ln w="12700">
            <a:solidFill>
              <a:srgbClr val="1B2A4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834640"/>
            <a:ext cx="91440" cy="16002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yrs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319272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Tenure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9272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service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89320" y="2834640"/>
            <a:ext cx="2560320" cy="1600200"/>
          </a:xfrm>
          <a:prstGeom prst="rect">
            <a:avLst/>
          </a:prstGeom>
          <a:solidFill>
            <a:srgbClr val="DFF5EC"/>
          </a:solidFill>
          <a:ln w="12700">
            <a:solidFill>
              <a:srgbClr val="2D9B6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89320" y="2834640"/>
            <a:ext cx="91440" cy="1600200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53912" y="3017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9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153912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Enrolled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53912" y="3913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enrolled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732520" y="914400"/>
            <a:ext cx="91440" cy="3657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|  WORKFORCE COMPOSITION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0467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employees work in each department?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3444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760720" y="1234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760720" y="1600200"/>
          <a:ext cx="31089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Finance is the largest department (218) while Marketing is the smallest (187). The workforce is fairly balanced across all five departments.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&amp; Q7  |  SATISFACTION &amp; ATTRITION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satisfaction levels (1=Very Low, 5=Very High)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07008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394960" y="82296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status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5303520" y="1207008"/>
          <a:ext cx="35661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394960" y="3749040"/>
            <a:ext cx="3383280" cy="77724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5394960" y="3749040"/>
            <a:ext cx="91440" cy="7772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577840" y="3776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577840" y="4133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workforce left in 2024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Nearly 4 in 10 employees left the company — a critical retention challenge. Satisfaction is distributed across all levels with level 1 (very low) being the most common.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 |  Q15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satisfied employees stay?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satisfaction is a strong predictor of who stays and who leaves.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783080"/>
            <a:ext cx="3749040" cy="123444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14A097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3.23 / 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— employees who STAYED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749040" cy="1234440"/>
          </a:xfrm>
          <a:prstGeom prst="rect">
            <a:avLst/>
          </a:prstGeom>
          <a:solidFill>
            <a:srgbClr val="E63946">
              <a:alpha val="15000"/>
            </a:srgbClr>
          </a:solidFill>
          <a:ln w="12700">
            <a:solidFill>
              <a:srgbClr val="E63946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18288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2.43 / 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343400" y="2468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 — employees who LEFT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320040" y="3200400"/>
          <a:ext cx="84124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320040" y="491947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(%) by job satisfaction level — employees with level 1 satisfaction are 2.3× more likely to leave than those at level 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&amp; Q19  |  DEPARTMENT DEEP DIVE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department ($)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07008"/>
          <a:ext cx="42062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job satisfaction by department (1–5)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846320" y="1207008"/>
          <a:ext cx="3931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4370832"/>
            <a:ext cx="8412480" cy="640080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3708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Salary differences across departments are relatively small ($1,274 range). However, Finance has noticeably lower job satisfaction (2.72) and higher attrition (40.4%), suggesting compensation is not the only driver — workload and culture may play a role.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&amp; H5  |  ATTRITION DRIVERS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 (%) by department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07008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8229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type comparison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207008"/>
            <a:ext cx="3931920" cy="804672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1207008"/>
            <a:ext cx="91440" cy="8046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0" y="127101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0" y="1591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 2.91 / 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66560" y="15910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Attrition: 40.2%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46320" y="2167128"/>
            <a:ext cx="3931920" cy="804672"/>
          </a:xfrm>
          <a:prstGeom prst="rect">
            <a:avLst/>
          </a:prstGeom>
          <a:solidFill>
            <a:srgbClr val="FEF3D0"/>
          </a:solidFill>
          <a:ln w="12700">
            <a:solidFill>
              <a:srgbClr val="F0A500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846320" y="2167128"/>
            <a:ext cx="91440" cy="80467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22311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02920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 2.92 / 5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66560" y="2551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Attrition: 36.9%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846320" y="3127248"/>
            <a:ext cx="3931920" cy="804672"/>
          </a:xfrm>
          <a:prstGeom prst="rect">
            <a:avLst/>
          </a:prstGeom>
          <a:solidFill>
            <a:srgbClr val="E8EEF8"/>
          </a:solidFill>
          <a:ln w="12700">
            <a:solidFill>
              <a:srgbClr val="1B2A4A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3127248"/>
            <a:ext cx="91440" cy="8046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0" y="31912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2920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 2.92 / 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766560" y="3511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Attrition: 40.0%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4370832"/>
            <a:ext cx="8412480" cy="64008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3708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Marketing has the highest attrition (42.8%) and HR the lowest (36%). Notably, employment type has almost no impact — Full-Time, Part-Time, and Contract workers all show similar satisfaction and attrition rates, suggesting company-wide culture is the real driver.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&amp; Q11  |  HIRING TRENDS &amp; BENEFITS ENROLLMENT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0" y="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employees started each year? (Q18)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07008"/>
          <a:ext cx="42062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enrollment by department — Q11 (% enrolled)</a:t>
            </a:r>
            <a:endParaRPr lang="en-US" sz="12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846320" y="1207008"/>
          <a:ext cx="40233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4846320" y="3630168"/>
            <a:ext cx="4023360" cy="804672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846320" y="3630168"/>
            <a:ext cx="91440" cy="80467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029200" y="36576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57.1%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029200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are NOT enrolled in benefits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365760" y="4544568"/>
            <a:ext cx="8412480" cy="438912"/>
          </a:xfrm>
          <a:prstGeom prst="rect">
            <a:avLst/>
          </a:prstGeom>
          <a:solidFill>
            <a:srgbClr val="D4F1F0"/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45445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Hiring grew significantly year-on-year — 2020 had 2.3x more new hires than 2018. Yet benefits enrollment remains critically low (42.9% overall), with IT at the lowest (35.8%). This may contribute to dissatisfaction and attrition.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45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2560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steps for HR leadership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1280160"/>
            <a:ext cx="416052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E63946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80160"/>
            <a:ext cx="73152" cy="15087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371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low satisfaction urgently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" y="1755648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39.2% attrition, employees scoring 1–2 on satisfaction are leaving at 53–59%. HR must conduct exit interviews and pulse surveys to identify root causes immediately.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16052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0A500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280160"/>
            <a:ext cx="73152" cy="15087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371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94960" y="138988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efforts on Finance &amp; Marketing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19472" y="1755648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has the lowest satisfaction (2.72) and Marketing the highest attrition (42.8%). Department-specific engagement programs and manager training should be prioritized.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971800"/>
            <a:ext cx="416052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D7377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71800"/>
            <a:ext cx="73152" cy="15087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30632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" y="3081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benefits enrollment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" y="3447288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42.9% of employees are enrolled in benefits. A company-wide benefits awareness campaign could improve satisfaction and signal that Salt Corp invests in its people.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160520" cy="15087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14A097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971800"/>
            <a:ext cx="73152" cy="1508760"/>
          </a:xfrm>
          <a:prstGeom prst="rect">
            <a:avLst/>
          </a:prstGeom>
          <a:solidFill>
            <a:srgbClr val="14A097"/>
          </a:solidFill>
          <a:ln w="12700">
            <a:solidFill>
              <a:srgbClr val="14A0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306324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A0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94960" y="3081528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workload regardless of contract type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19472" y="3447288"/>
            <a:ext cx="3858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employment types show similar dissatisfaction, suggesting the issue is company culture and workload — not just employment terms. Policy changes must apply across all staff.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F0A500">
              <a:alpha val="12000"/>
            </a:srgbClr>
          </a:solidFill>
          <a:ln w="12700">
            <a:solidFill>
              <a:srgbClr val="F0A500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Corporation has a retention crisis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directly tied to employee satisfaction.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2788920"/>
            <a:ext cx="1874520" cy="132588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14A097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529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attrition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2788920"/>
            <a:ext cx="1874520" cy="132588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14A097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8529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2.9/5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3429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788920"/>
            <a:ext cx="1874520" cy="132588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14A097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8529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2.3×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3440" y="3429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attrition at sat. level 1 vs 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2788920"/>
            <a:ext cx="1874520" cy="132588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14A097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85292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66560" y="3429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enrollment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path forward: invest in employee wellbeing, close the satisfaction gap in Finance and Marketing,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benefits enrollment, and build a culture where all employees — regardless of contract type — feel valued.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Salt Corporation HR Analysis 2024</dc:title>
  <dc:subject>PptxGenJS Presentation</dc:subject>
  <dc:creator>PptxGenJS</dc:creator>
  <cp:lastModifiedBy>PptxGenJS</cp:lastModifiedBy>
  <cp:revision>1</cp:revision>
  <dcterms:created xsi:type="dcterms:W3CDTF">2026-03-23T11:01:46Z</dcterms:created>
  <dcterms:modified xsi:type="dcterms:W3CDTF">2026-03-23T11:01:46Z</dcterms:modified>
</cp:coreProperties>
</file>